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a2e60d75a4877" /><Relationship Type="http://schemas.openxmlformats.org/officeDocument/2006/relationships/extended-properties" Target="/docProps/app.xml" Id="Rabe2ac3360024db1" /><Relationship Type="http://schemas.openxmlformats.org/officeDocument/2006/relationships/officeDocument" Target="/ppt/presentation.xml" Id="Rcc3099d8de544b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050463b8648aa"/>
  </p:sldMasterIdLst>
  <p:notesMasterIdLst>
    <p:notesMasterId xmlns:r="http://schemas.openxmlformats.org/officeDocument/2006/relationships" r:id="Ree61529089494709"/>
  </p:notesMasterIdLst>
  <p:sldIdLst>
    <p:sldId xmlns:r="http://schemas.openxmlformats.org/officeDocument/2006/relationships" id="256" r:id="R27802e2fdcae4e51"/>
    <p:sldId xmlns:r="http://schemas.openxmlformats.org/officeDocument/2006/relationships" id="257" r:id="R1160a4b899624bce"/>
    <p:sldId xmlns:r="http://schemas.openxmlformats.org/officeDocument/2006/relationships" id="258" r:id="Rf362e538d18e44e8"/>
    <p:sldId xmlns:r="http://schemas.openxmlformats.org/officeDocument/2006/relationships" id="259" r:id="R3f108b5450d641d4"/>
    <p:sldId xmlns:r="http://schemas.openxmlformats.org/officeDocument/2006/relationships" id="260" r:id="Rc434a95e97f0438f"/>
    <p:sldId xmlns:r="http://schemas.openxmlformats.org/officeDocument/2006/relationships" id="261" r:id="Ra855ddd1f67b425f"/>
    <p:sldId xmlns:r="http://schemas.openxmlformats.org/officeDocument/2006/relationships" id="262" r:id="R6deeb2ec74ee43a1"/>
    <p:sldId xmlns:r="http://schemas.openxmlformats.org/officeDocument/2006/relationships" id="263" r:id="Reedf47c683bf479a"/>
    <p:sldId xmlns:r="http://schemas.openxmlformats.org/officeDocument/2006/relationships" id="264" r:id="R192630987e7d474b"/>
    <p:sldId xmlns:r="http://schemas.openxmlformats.org/officeDocument/2006/relationships" id="265" r:id="R5bd24584e27d4f7c"/>
    <p:sldId xmlns:r="http://schemas.openxmlformats.org/officeDocument/2006/relationships" id="266" r:id="Rfc1dd46619bc44b8"/>
    <p:sldId xmlns:r="http://schemas.openxmlformats.org/officeDocument/2006/relationships" id="267" r:id="R084f1054093f4e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050463b8648aa" /><Relationship Type="http://schemas.openxmlformats.org/officeDocument/2006/relationships/theme" Target="/ppt/theme/theme1.xml" Id="Ra44ae1a05aec45df" /><Relationship Type="http://schemas.openxmlformats.org/officeDocument/2006/relationships/notesMaster" Target="/ppt/notesMasters/notesMaster1.xml" Id="Ree61529089494709" /><Relationship Type="http://schemas.openxmlformats.org/officeDocument/2006/relationships/presProps" Target="/ppt/presProps.xml" Id="R856f0ecc0d8d486d" /><Relationship Type="http://schemas.openxmlformats.org/officeDocument/2006/relationships/viewProps" Target="/ppt/viewProps.xml" Id="R0e6215e5f9f54853" /><Relationship Type="http://schemas.openxmlformats.org/officeDocument/2006/relationships/tableStyles" Target="/ppt/tableStyles.xml" Id="R92e07f655d8b4d69" /><Relationship Type="http://schemas.openxmlformats.org/officeDocument/2006/relationships/slide" Target="/ppt/slides/slide1.xml" Id="R27802e2fdcae4e51" /><Relationship Type="http://schemas.openxmlformats.org/officeDocument/2006/relationships/slide" Target="/ppt/slides/slide2.xml" Id="R1160a4b899624bce" /><Relationship Type="http://schemas.openxmlformats.org/officeDocument/2006/relationships/slide" Target="/ppt/slides/slide3.xml" Id="Rf362e538d18e44e8" /><Relationship Type="http://schemas.openxmlformats.org/officeDocument/2006/relationships/slide" Target="/ppt/slides/slide4.xml" Id="R3f108b5450d641d4" /><Relationship Type="http://schemas.openxmlformats.org/officeDocument/2006/relationships/slide" Target="/ppt/slides/slide5.xml" Id="Rc434a95e97f0438f" /><Relationship Type="http://schemas.openxmlformats.org/officeDocument/2006/relationships/slide" Target="/ppt/slides/slide6.xml" Id="Ra855ddd1f67b425f" /><Relationship Type="http://schemas.openxmlformats.org/officeDocument/2006/relationships/slide" Target="/ppt/slides/slide7.xml" Id="R6deeb2ec74ee43a1" /><Relationship Type="http://schemas.openxmlformats.org/officeDocument/2006/relationships/slide" Target="/ppt/slides/slide8.xml" Id="Reedf47c683bf479a" /><Relationship Type="http://schemas.openxmlformats.org/officeDocument/2006/relationships/slide" Target="/ppt/slides/slide9.xml" Id="R192630987e7d474b" /><Relationship Type="http://schemas.openxmlformats.org/officeDocument/2006/relationships/slide" Target="/ppt/slides/slide10.xml" Id="R5bd24584e27d4f7c" /><Relationship Type="http://schemas.openxmlformats.org/officeDocument/2006/relationships/slide" Target="/ppt/slides/slide11.xml" Id="Rfc1dd46619bc44b8" /><Relationship Type="http://schemas.openxmlformats.org/officeDocument/2006/relationships/slide" Target="/ppt/slides/slide12.xml" Id="R084f1054093f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ce1b005be2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43eb80eaf416a" /><Relationship Type="http://schemas.openxmlformats.org/officeDocument/2006/relationships/notesMaster" Target="/ppt/notesMasters/notesMaster1.xml" Id="Rdef6513a4d6d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3006478eaa49de" /><Relationship Type="http://schemas.openxmlformats.org/officeDocument/2006/relationships/notesMaster" Target="/ppt/notesMasters/notesMaster1.xml" Id="R0f8c4b2e1e5049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0986f1a8e4599" /><Relationship Type="http://schemas.openxmlformats.org/officeDocument/2006/relationships/notesMaster" Target="/ppt/notesMasters/notesMaster1.xml" Id="R8ea0fb94d06b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767487c1e8431d" /><Relationship Type="http://schemas.openxmlformats.org/officeDocument/2006/relationships/notesMaster" Target="/ppt/notesMasters/notesMaster1.xml" Id="Reef026e415f8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ca45e1355e41d0" /><Relationship Type="http://schemas.openxmlformats.org/officeDocument/2006/relationships/notesMaster" Target="/ppt/notesMasters/notesMaster1.xml" Id="R26d28c1473544f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11cafc27e4711" /><Relationship Type="http://schemas.openxmlformats.org/officeDocument/2006/relationships/notesMaster" Target="/ppt/notesMasters/notesMaster1.xml" Id="R266650dbc99c40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7d982bbb04f8a" /><Relationship Type="http://schemas.openxmlformats.org/officeDocument/2006/relationships/notesMaster" Target="/ppt/notesMasters/notesMaster1.xml" Id="Rdaec5e4d5e9e4a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ca8e2caae64005" /><Relationship Type="http://schemas.openxmlformats.org/officeDocument/2006/relationships/notesMaster" Target="/ppt/notesMasters/notesMaster1.xml" Id="Re094f0daf13b4f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1f0b92d7a4e79" /><Relationship Type="http://schemas.openxmlformats.org/officeDocument/2006/relationships/notesMaster" Target="/ppt/notesMasters/notesMaster1.xml" Id="Rfad1b345e243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e4dfe1d5f341d4" /><Relationship Type="http://schemas.openxmlformats.org/officeDocument/2006/relationships/notesMaster" Target="/ppt/notesMasters/notesMaster1.xml" Id="Rb0db32e4d5854f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b7437119e847d1" /><Relationship Type="http://schemas.openxmlformats.org/officeDocument/2006/relationships/notesMaster" Target="/ppt/notesMasters/notesMaster1.xml" Id="Rb5b1dc4fe9714f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bf775298aa4c9b" /><Relationship Type="http://schemas.openxmlformats.org/officeDocument/2006/relationships/notesMaster" Target="/ppt/notesMasters/notesMaster1.xml" Id="R1c1f15c0187a4b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200af17a744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bc1fdfd5e1a4cda" /><Relationship Type="http://schemas.openxmlformats.org/officeDocument/2006/relationships/slideLayout" Target="/ppt/slideLayouts/slideLayout2.xml" Id="R736606a1b7b2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606a1b7b2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5e99a4d5ed4406" /><Relationship Type="http://schemas.openxmlformats.org/officeDocument/2006/relationships/notesSlide" Target="/ppt/notesSlides/notesSlide1.xml" Id="Raa59d80cd3c9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13fc7c9da4cf4" /><Relationship Type="http://schemas.openxmlformats.org/officeDocument/2006/relationships/notesSlide" Target="/ppt/notesSlides/notesSlide2.xml" Id="Rb216869bdf0d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3ea90e63943fe" /><Relationship Type="http://schemas.openxmlformats.org/officeDocument/2006/relationships/notesSlide" Target="/ppt/notesSlides/notesSlide3.xml" Id="R097208d148e6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4df8cb13a457f" /><Relationship Type="http://schemas.openxmlformats.org/officeDocument/2006/relationships/notesSlide" Target="/ppt/notesSlides/notesSlide4.xml" Id="Rdfb42f0b07154a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c58d5d7e1748e1" /><Relationship Type="http://schemas.openxmlformats.org/officeDocument/2006/relationships/image" Target="/ppt/media/image.png" Id="R82664c65364a430b" /><Relationship Type="http://schemas.openxmlformats.org/officeDocument/2006/relationships/notesSlide" Target="/ppt/notesSlides/notesSlide5.xml" Id="Rc9ee006e98a9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a87549c2a442d" /><Relationship Type="http://schemas.openxmlformats.org/officeDocument/2006/relationships/notesSlide" Target="/ppt/notesSlides/notesSlide6.xml" Id="R5a318c252abc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63215897f4952" /><Relationship Type="http://schemas.openxmlformats.org/officeDocument/2006/relationships/image" Target="/ppt/media/image2.png" Id="R6cb5343e1cc94c13" /><Relationship Type="http://schemas.openxmlformats.org/officeDocument/2006/relationships/notesSlide" Target="/ppt/notesSlides/notesSlide7.xml" Id="Rd1c605151d52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544ba24d0460a" /><Relationship Type="http://schemas.openxmlformats.org/officeDocument/2006/relationships/notesSlide" Target="/ppt/notesSlides/notesSlide8.xml" Id="Ra2a5c66fcceb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bb85349974253" /><Relationship Type="http://schemas.openxmlformats.org/officeDocument/2006/relationships/notesSlide" Target="/ppt/notesSlides/notesSlide9.xml" Id="Rcefdca256b3d45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5f0836c4f421f" /><Relationship Type="http://schemas.openxmlformats.org/officeDocument/2006/relationships/image" Target="/ppt/media/image3.png" Id="Rc830eb2bb5d64f3a" /><Relationship Type="http://schemas.openxmlformats.org/officeDocument/2006/relationships/notesSlide" Target="/ppt/notesSlides/notesSlide10.xml" Id="Ra2011c95d69447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84fccd3054008" /><Relationship Type="http://schemas.openxmlformats.org/officeDocument/2006/relationships/notesSlide" Target="/ppt/notesSlides/notesSlide11.xml" Id="R915cefa2b61444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2415ab6514694" /><Relationship Type="http://schemas.openxmlformats.org/officeDocument/2006/relationships/notesSlide" Target="/ppt/notesSlides/notesSlide12.xml" Id="R7119360cbe0448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67FA8-21C4-4068-BFB3-C73BA0F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GROUP MEETING · PROGRESS-marker">
            <a:extLst xmlns:a="http://schemas.openxmlformats.org/drawingml/2006/main">
              <a:ext uri="{FF2B5EF4-FFF2-40B4-BE49-F238E27FC236}">
                <a16:creationId xmlns:a16="http://schemas.microsoft.com/office/drawing/2014/main" id="{B51E0F99-C8E9-40F1-9979-D4C950C4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kicker-GROUP MEETING · PROGRESS-label">
            <a:extLst xmlns:a="http://schemas.openxmlformats.org/drawingml/2006/main">
              <a:ext uri="{FF2B5EF4-FFF2-40B4-BE49-F238E27FC236}">
                <a16:creationId xmlns:a16="http://schemas.microsoft.com/office/drawing/2014/main" id="{72ECEC54-3AD1-4C7E-8D84-64E4EBD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GROUP MEETING ·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DC6DD-C81A-46B0-BEFC-27FF41C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APEX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6F92F-33BE-4E22-BFEA-E9676E2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Adaptive Policy with Embedded conveX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1210-FBA4-493C-9F17-6C9A6F72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面向 LEO 直连接入网络的双时间尺度公平资源分配：</a:t>
            </a:r>
          </a:p>
          <a:p xmlns:a="http://schemas.openxmlformats.org/drawingml/2006/main">
            <a:pPr algn="l">
              <a:defRPr sz="23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目前 P1/P2 已形成可复现实验闭环，下一步聚焦 P2 surrogate 修正。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7FADA-B6A1-4C2F-97D1-B0093BB6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8954B-D7F1-4E40-856E-13D9F05D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P1 convex 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F284A-9AD9-4B32-B275-7DEEB2F4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C"/>
          </a:solidFill>
          <a:ln xmlns:a="http://schemas.openxmlformats.org/drawingml/2006/main" w="0">
            <a:solidFill>
              <a:srgbClr val="E8F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78D81-D088-4717-945B-766E932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529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P2 MILP / 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2DD72-5E52-4C3D-8F73-489EE7A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7"/>
          </a:solidFill>
          <a:ln xmlns:a="http://schemas.openxmlformats.org/drawingml/2006/main" w="0">
            <a:solidFill>
              <a:srgbClr val="FFF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20B93-3E63-415D-816C-789D293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90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902F"/>
                </a:solidFill>
                <a:latin typeface="PingFang SC"/>
                <a:ea typeface="PingFang SC"/>
                <a:cs typeface="PingFang SC"/>
              </a:rPr>
              <a:t>Proxy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D10A2-7F81-478D-A5D2-6060F18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solidFill>
              <a:srgbClr val="EFEA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05630-9A6C-4CD8-A3F3-76FD97D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55A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B55A0"/>
                </a:solidFill>
                <a:latin typeface="PingFang SC"/>
                <a:ea typeface="PingFang SC"/>
                <a:cs typeface="PingFang SC"/>
              </a:rPr>
              <a:t>P3 planned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437E5-8EE0-430B-9A09-EA203D0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28700"/>
            <a:ext cx="1733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D788C-B6FD-4AB8-8076-F3780C9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28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8476E-7FC3-477C-9A71-2A8B130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811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2B279-6F03-424D-8E1C-0BC319C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430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pytest regression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B91B3-DE22-4B03-BDD0-76CA13B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latest local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71A78-8A78-476B-8FEE-4C8F0AC6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1733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51038-EA59-4DF0-BA3C-6AAAFE3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28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65CE3-7509-438D-BB38-E685BB38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1811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71.9×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F6800-5C07-4F5C-A132-9D73487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430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P1 L2 median speedup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A57EA-89C8-4695-95F4-2024B6A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50 instances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46358-5E3F-409F-B93D-FA89141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1733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6BBB1-FF67-46B5-8103-98AA973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44D0A-B046-4FE1-8D8A-17606937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CDA80-8D74-409D-B6A5-D664DA8B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P2 DP gap vs MILP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50F81-51ED-43EB-8CD7-38D4F63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current surrogate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31DA2-2B18-48F6-80FE-EB51EB6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733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157F5-3F85-4189-81EE-80E1736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0A13D-8FF7-47A6-BDA3-2DEAD38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4140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79F5B-9E87-4CD7-9E97-5AFE6B3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956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cell-level samples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6629B5-0AC5-4E90-A096-B79449AA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623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proxy calibration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332ACA-E832-4200-AE91-389C68E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progress deck · local repository artifacts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E78150-B0FE-4F96-AED7-4846C10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0473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D6B4C-EB1A-492A-8483-F4AE7B8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PROBLEM-marker">
            <a:extLst xmlns:a="http://schemas.openxmlformats.org/drawingml/2006/main">
              <a:ext uri="{FF2B5EF4-FFF2-40B4-BE49-F238E27FC236}">
                <a16:creationId xmlns:a16="http://schemas.microsoft.com/office/drawing/2014/main" id="{F8F13127-9F08-47A2-9A56-73E9BC6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3" name="kicker-PROBLEM-label">
            <a:extLst xmlns:a="http://schemas.openxmlformats.org/drawingml/2006/main">
              <a:ext uri="{FF2B5EF4-FFF2-40B4-BE49-F238E27FC236}">
                <a16:creationId xmlns:a16="http://schemas.microsoft.com/office/drawing/2014/main" id="{B33AA10B-E727-47D2-ADE4-2FF645A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84C3A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7F06A-37AA-4DF8-A707-7DCD64F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LEO 直连接入的难点不是单一资源不足，而是三类约束同时拉扯。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5074F-75FA-453E-98C8-0520EA3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615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2"/>
          </a:solidFill>
          <a:ln xmlns:a="http://schemas.openxmlformats.org/drawingml/2006/main" w="0">
            <a:solidFill>
              <a:srgbClr val="D5CD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7BECF-2174-45B2-A4AF-12032F5C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2"/>
          </a:solidFill>
          <a:ln xmlns:a="http://schemas.openxmlformats.org/drawingml/2006/main" w="0">
            <a:solidFill>
              <a:srgbClr val="D5CD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3A091-84F4-45BE-998E-71D1D3A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2"/>
          </a:solidFill>
          <a:ln xmlns:a="http://schemas.openxmlformats.org/drawingml/2006/main" w="0">
            <a:solidFill>
              <a:srgbClr val="D5CD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94C40-9836-4FD4-A459-B997C2EC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44384-A866-49C2-8FD1-A62934F3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D4E3C-C91E-4898-B77A-0BCB38A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9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高速移动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9630E-0F4C-4F1B-850B-A8944F6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可见性和信道随慢时隙变化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EBF33-BAC2-445A-84C4-BDF10AE2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D3459-0367-4A19-89A3-DD71A587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38B7B-0CA7-40DD-B81D-6A377EB7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19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稀缺资源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0EFE4-69FF-4064-8004-B890A92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3872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PRB / power 需要快时隙分配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22035-E799-49D6-B40E-83FC77B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5EA7A-07F0-4B26-A823-00FE3192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2438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560CC-6972-45EE-9F5C-00D3B30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切换预算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8BA67-B623-4015-BA96-C52E723D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289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handover 不能靠软惩罚放宽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C1B55-EBC5-4233-94DC-CBB7063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270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067E0-C601-46F3-B5B4-C01A9A1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目标：公平服务更多需求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同时避免频繁切换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ED62C-F2DC-4054-BA92-46881F6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EB04B-15F5-45F0-AE2C-CFD54EF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525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如果只优化资源分配，会忽略未来可见性和切换成本。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89D94-B249-4D2B-AF5F-966186C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34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54368-9ABB-40CC-80FB-15DA506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7375"/>
            <a:ext cx="525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如果只优化归属，会误判真实 PRB/power 分配后的满足率。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FFD1E-6162-419A-9878-4E799672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ECB8E-08C6-49FC-918F-0FB003CE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9040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6A6FF-1452-4ADE-98D8-5860658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DECOMPOSITION-marker">
            <a:extLst xmlns:a="http://schemas.openxmlformats.org/drawingml/2006/main">
              <a:ext uri="{FF2B5EF4-FFF2-40B4-BE49-F238E27FC236}">
                <a16:creationId xmlns:a16="http://schemas.microsoft.com/office/drawing/2014/main" id="{ADC7AC15-59B0-48D2-BE36-4E8C206B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kicker-DECOMPOSITION-label">
            <a:extLst xmlns:a="http://schemas.openxmlformats.org/drawingml/2006/main">
              <a:ext uri="{FF2B5EF4-FFF2-40B4-BE49-F238E27FC236}">
                <a16:creationId xmlns:a16="http://schemas.microsoft.com/office/drawing/2014/main" id="{7CFE78EC-D29E-45B8-8A99-09CCDA9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DECOMPOSITION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C808A-E126-4D8F-BA21-1DB112D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我把原问题拆成 P1/P2/P3：先把可解的 oracle 做稳，再推在线策略。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2DE3F-D1B7-45D8-8D67-E2FFAF1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D7270-5069-4992-A3C9-4D0F8AE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5410-1496-4A4E-846A-5348AB6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567E6-1AFB-43D6-8E56-654752BA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05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快时隙资源分配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E2183-C503-4F74-A8C4-4F78E4C9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固定归属 x 后，联合分配 PRB 和功率，输出真实满足率 xi。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876A7-10FA-4186-9EB2-01B78BB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426C1-F68C-4AB1-982F-73A1221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6A0D2-D449-466B-8E8E-810B2C5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4E5EE-8544-4A88-8D21-B5D70C1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3AF2B-8053-4D76-9704-13D2FA3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BA090-320F-42B9-BE8E-A410364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慢时隙归属优化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0B845-A89D-451D-BE00-6E03AA8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在可见性和 hard handover budget 下选择卫星-小区归属。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31A3F-8E9C-4DEA-93B7-39318393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DB26C-2EED-439A-9D3A-9D9F324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49B8D-E0B3-4AEC-97EF-106FC79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F5C74-2398-4866-8E06-5A9E3C03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B2DDB-9D40-4ECF-BE4E-6D4047F9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rPr>
              <a:t>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7A191-08A5-434B-813B-30D82D3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05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在线分层策略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0E08F-09E5-4543-A6ED-39921813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需求不确定时，用 P2 label / P1 reward 支撑学习策略。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83DD8-DF64-4419-B209-41CFD54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当前进度：P1/P2 已完成研究原型；P3 之前必须先把 P2 proxy 校准清楚。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30D59-5423-4F47-BD01-971DAB52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2C7"/>
          </a:solidFill>
          <a:ln xmlns:a="http://schemas.openxmlformats.org/drawingml/2006/main" w="0">
            <a:solidFill>
              <a:srgbClr val="DA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B9F31-6FBE-47ED-B716-7526169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接口关系：P1 是真实资源分配 oracle；P2 用 surrogate 做组合优化；P3 将利用 P2 轨迹和 P1 reward 学习在线决策。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346D1-1C3D-4557-806C-100C348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E7E77-8813-426E-8BC4-527F775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50195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03F61-6EB0-4C9B-BC7A-9BB3089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P1 KERNEL-marker">
            <a:extLst xmlns:a="http://schemas.openxmlformats.org/drawingml/2006/main">
              <a:ext uri="{FF2B5EF4-FFF2-40B4-BE49-F238E27FC236}">
                <a16:creationId xmlns:a16="http://schemas.microsoft.com/office/drawing/2014/main" id="{8FFDFD53-FB82-4D90-99F4-CCC35F8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kicker-P1 KERNEL-label">
            <a:extLst xmlns:a="http://schemas.openxmlformats.org/drawingml/2006/main">
              <a:ext uri="{FF2B5EF4-FFF2-40B4-BE49-F238E27FC236}">
                <a16:creationId xmlns:a16="http://schemas.microsoft.com/office/drawing/2014/main" id="{92CD8694-1948-436E-B6B0-D7BEE35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P1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D0850-7689-4A1B-8B03-AC49D4AA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P1 已经从数学凸性落到可复用代码：CVX oracle + fast dual。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E0291-C635-4C30-995B-2C56B2B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846F-DDB1-4826-A890-8F123EF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C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BC3FF"/>
                </a:solidFill>
                <a:latin typeface="Helvetica Neue"/>
                <a:ea typeface="Helvetica Neue"/>
                <a:cs typeface="Helvetica Neue"/>
              </a:rPr>
              <a:t>rate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EB284-6471-45D5-92FC-F133BCD8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248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 · log(1 + αp / n)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= - rel_entr(n, n + αp)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06EB-466A-47B2-94F3-5774418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ED6D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ED6DF"/>
                </a:solidFill>
                <a:latin typeface="PingFang SC"/>
                <a:ea typeface="PingFang SC"/>
                <a:cs typeface="PingFang SC"/>
              </a:rPr>
              <a:t>CVXPY 能识别为 DCP；bit_scale=1e6 降低数值病态；zero-demand cell 显式设 xi=1。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ED222-8C01-4613-AA85-EEE3F687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5769E-04D8-4988-B10D-A0FFEA0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D3365-C78E-4213-A91D-44A4E52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431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P1-L1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02EA5-9D2F-4815-A27B-DD87177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051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CVXPY + MOSEK ground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C06F4-9644-4F75-B5CC-D89D6F44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718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p1_cvx.py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42E2E-ECEA-40AA-B2FB-85AFD6B5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00D76-4AF1-4828-88C6-AD64D903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A65D5-99F8-4E26-AA44-7097E5DD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P1-L2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FBCA6-1D7D-4E06-9973-80B0B18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051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dual-weighted NumPy approximation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6C8AD-5F5B-4547-88E1-A9BC663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p1_dual.py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CC13F-5B1F-400E-9D83-D8B977E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D230C-61B2-4B0B-995F-6D56E63A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D24C5-0C8C-4961-B670-F1718669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147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统一返回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E5D64-1902-4891-9E3E-456E6419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76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P1Result(n, p, z, xi, U)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16FF1-2B44-4F13-8129-C37871B0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434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downstream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812EE-3876-40EA-AA63-7A6D22B0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99560-5C86-4464-9EB7-6F798AB9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40D77-FE93-4BB6-9C60-B97F58D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覆盖测试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514D4-8D16-466C-BB3D-7C0725D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解析解 / mask / zero demand /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9CB89-C9FD-4DAF-B0A3-FAEEF9AE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test_p1_*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B2DE5-7499-480E-AB73-6E7ED11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P1 的角色不是只做一个 solver，而是给 P2/P3 提供“真实资源分配之后的满足率”基准。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35B21-32D7-4F64-921D-A4545BEA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AABEF1-8452-4EE4-BF29-F3BB1DD7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55793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AA527-9161-42B9-9190-60E460F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P1 EVIDENCE-marker">
            <a:extLst xmlns:a="http://schemas.openxmlformats.org/drawingml/2006/main">
              <a:ext uri="{FF2B5EF4-FFF2-40B4-BE49-F238E27FC236}">
                <a16:creationId xmlns:a16="http://schemas.microsoft.com/office/drawing/2014/main" id="{761AFE3C-49DE-4ABB-A679-6CD0EB0C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kicker-P1 EVIDENCE-label">
            <a:extLst xmlns:a="http://schemas.openxmlformats.org/drawingml/2006/main">
              <a:ext uri="{FF2B5EF4-FFF2-40B4-BE49-F238E27FC236}">
                <a16:creationId xmlns:a16="http://schemas.microsoft.com/office/drawing/2014/main" id="{C575E74F-3F8A-4240-BB0D-ACA86C1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P1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44E85-8CE9-4BED-B5DF-C9F2311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P1-L2 在 overloaded medium 上保留接近 CVX 的效用，同时快一个数量级以上。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64c65364a430b"/>
          <a:stretch xmlns:a="http://schemas.openxmlformats.org/drawingml/2006/main"/>
        </p:blipFill>
        <p:spPr>
          <a:xfrm xmlns:a="http://schemas.openxmlformats.org/drawingml/2006/main">
            <a:off x="533400" y="2873375"/>
            <a:ext cx="7239000" cy="1930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4677A-7F41-47A5-8143-0467191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9958A-94F3-40AF-A01E-002900BF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EBFA-9B3D-4C9D-BA80-A71EC25B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B392B-AD1C-4523-8777-F4A63A68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medium overloaded instances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6CE46-37BB-4882-920E-2C80C1B1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6A41E-EF2B-4395-8DB3-6BE90B71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A36AF-5FCD-4AA6-884B-7E7C4A37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3.76e-4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3533A-56A1-4B5D-8C8D-27220FB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median relative utility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6EFC5-31ED-45AD-BDD8-0FA95A35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CD261-0736-48FA-BC21-0E53D9C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BF162-4E40-45B0-896D-ABC6F042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71.9×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D2390-3F2E-4C81-8911-C94D7A57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median speedup of dual vs CVX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EF592-1415-462A-B53E-7C6D8B8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解读：P1-L1 已可作为 oracle；P1-L2 足够快，适合后续大批量 screening 和 ablation。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77E00-161D-4371-A956-6BEFF30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results/p1_benchmarks/p1_benchmark_medium_overloaded_n50_20260524T043323Z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548AC-6E84-420F-A91A-89F3C248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2678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85FD0-4CF9-4C12-8131-578C9A89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P2 MODEL-marker">
            <a:extLst xmlns:a="http://schemas.openxmlformats.org/drawingml/2006/main">
              <a:ext uri="{FF2B5EF4-FFF2-40B4-BE49-F238E27FC236}">
                <a16:creationId xmlns:a16="http://schemas.microsoft.com/office/drawing/2014/main" id="{E941B2CA-5FCA-43AF-9DEB-17370D3B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" name="kicker-P2 MODEL-label">
            <a:extLst xmlns:a="http://schemas.openxmlformats.org/drawingml/2006/main">
              <a:ext uri="{FF2B5EF4-FFF2-40B4-BE49-F238E27FC236}">
                <a16:creationId xmlns:a16="http://schemas.microsoft.com/office/drawing/2014/main" id="{EA924C8A-118D-4FEF-A0AE-3C13B810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P2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ED7D9-7815-48E9-9B98-FDAFE39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P2 把 LEO 可见性变化转成 hard-budget association 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78BC3-B2ED-4BE2-8B82-BBEF455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D651D-1859-4BD9-AF48-12ADDFB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7E6A2-8DA1-43FB-B3D3-0D485F5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D6EAB-39BE-4530-9461-2E256CCE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Full MILP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613F1-881C-4495-AF2D-76B95E8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完整 horizon 下离线最优；作为当前 surrogate 的审计基准。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3CE76-016F-4DBF-A731-C5BD25F3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0BB28-E21E-4AA6-86D5-D94DF3E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4093F-35B7-4F1D-ADC7-C2E3BFFF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DAA8E-97D1-41A6-A8DB-FCB3FADF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EFA2E-FF57-4F1E-9A42-BCC0127D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4829D-9522-4A36-ADB8-49A0F9A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Rolling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206B8-85B5-4E91-A3DC-4FC72B58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每次解短窗口 MILP，只提交前 step 个慢时隙。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6606F-0CE7-40C4-A1C5-4AB38BD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60FEA-CA41-4D98-821B-269AAC09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11239-0FCA-4D77-AFC7-8036294F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857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CAB2C-7CB9-4690-9CF8-1FF3B73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493CB-5D3E-444D-BE3D-33B29C3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99891-AAB5-4995-A432-174AAEE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Dynamic programming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06736-F458-451B-ABD5-036006B0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当前 surrogate 可分后，逐 cell 做精确 DP。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A9300-3962-407F-B0EF-1546C3E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021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22D0A-4212-4312-9C9F-307B0E97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核心约束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D5EB8-2C91-412B-B61E-1B55D7CE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805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每个 cell 每个慢时隙必须选择一个可见 satellite；handover 指示相邻慢时隙切换；每个 cell 的总切换次数不超过 H_c。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5E244-5259-45BB-91E1-9D73914F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3D011-77A3-48A3-9166-4DD05D9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D8239-2978-4ACF-8666-A7654E1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24525"/>
            <a:ext cx="139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x[s,c,k]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DBE9C-F208-4EAE-884F-362DAE1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8647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association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D50CD-434C-41D1-BA48-B9905AE0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721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E48609-51E8-4D40-8846-C29C628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721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0C7DF-0AC7-4815-A7B8-64C5D48A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724525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h[c,k]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463E3-9907-4493-915F-9E8DF5B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0864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handover indicator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73FDF-9F31-4B72-ADE4-FDE80339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721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1EDE04-5ECD-4FB0-A326-56E10785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721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D219E-5503-47D6-AF2B-50AD46A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24525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xi[c,k]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017134-172E-4928-BD32-021AEEA0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864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proxy satisfaction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B2B18B-21A0-46CB-B416-34B9CF7A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7212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66ADF8-3D69-430F-B7AB-D7F743FF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721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5DA3F2-BD90-4A67-AC01-C761F24B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724525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H[c]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3E4DBC-E6D4-4E86-B6E2-5CD66006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086475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hard budget per cell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A4989A-81DF-41FE-8ED7-AED6FD4F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A5A012-71FC-4B66-9B85-B59A232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1802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1B4AB-4D94-410E-BA97-EAD1CF8F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P2 EVIDENCE-marker">
            <a:extLst xmlns:a="http://schemas.openxmlformats.org/drawingml/2006/main">
              <a:ext uri="{FF2B5EF4-FFF2-40B4-BE49-F238E27FC236}">
                <a16:creationId xmlns:a16="http://schemas.microsoft.com/office/drawing/2014/main" id="{227C232E-5B5B-4152-8EB6-D41C99FC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" name="kicker-P2 EVIDENCE-label">
            <a:extLst xmlns:a="http://schemas.openxmlformats.org/drawingml/2006/main">
              <a:ext uri="{FF2B5EF4-FFF2-40B4-BE49-F238E27FC236}">
                <a16:creationId xmlns:a16="http://schemas.microsoft.com/office/drawing/2014/main" id="{88AD9DD9-3F5F-4924-BD36-65632BD2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P2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83007-4AA8-40E9-B92D-7592DDD4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在当前 linear surrogate 下，P2-L3 DP 精确匹配 full MILP，并明显更快。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5343e1cc94c13"/>
          <a:stretch xmlns:a="http://schemas.openxmlformats.org/drawingml/2006/main"/>
        </p:blipFill>
        <p:spPr>
          <a:xfrm xmlns:a="http://schemas.openxmlformats.org/drawingml/2006/main">
            <a:off x="514350" y="2860675"/>
            <a:ext cx="7334250" cy="1955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2A788-3B76-43C5-BAA4-8C609904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79327-CC12-41BE-A4E8-A07BDD7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A84A1-399B-4C7F-9531-064D55B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7F3EC-01CB-453A-9912-E1860D3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DP score gap vs full MILP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F469B-A0D1-42E6-BB38-9660571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11214-A74D-49EC-AA9A-B1C2BAD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DE75A-601A-4127-ACFE-0938A153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5.42×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2D0A8-011C-4841-8B45-B9668A92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DP median speedup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FDFB6-CFDE-43DD-99FB-95D571F5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075FD-DDA1-4756-B126-46E9390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EF191-A087-46E9-ADC7-249BE459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0F3A7-8ACA-4674-8229-6F1247D2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DP mean handovers = MILP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34D46-A119-4ED9-8FDB-FA98055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解读：当前算法瓶颈不是 DP 求解，而是 DP 正在优化的 surrogate 是否足够像真实 P1。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609F1-7BFF-4138-B859-E13877F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results/p2_benchmarks/p2_benchmark_stress_n3_20260524T104945Z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C1AC2-C0F9-45E1-B4C6-811E5DF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91989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0EBDD-AAD6-4537-8F7F-663E487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WHY SURROGATE-marker">
            <a:extLst xmlns:a="http://schemas.openxmlformats.org/drawingml/2006/main">
              <a:ext uri="{FF2B5EF4-FFF2-40B4-BE49-F238E27FC236}">
                <a16:creationId xmlns:a16="http://schemas.microsoft.com/office/drawing/2014/main" id="{2E11634E-3523-494C-BD26-D83365D9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" name="kicker-WHY SURROGATE-label">
            <a:extLst xmlns:a="http://schemas.openxmlformats.org/drawingml/2006/main">
              <a:ext uri="{FF2B5EF4-FFF2-40B4-BE49-F238E27FC236}">
                <a16:creationId xmlns:a16="http://schemas.microsoft.com/office/drawing/2014/main" id="{5CE98667-FBA8-4A78-BC9D-7C059539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rPr>
              <a:t>WHY SURROGATE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3B0F-430D-415D-AB80-13DCAF2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P2 不能把 P1 CVX 直接塞进组合优化，所以必须先优化 surrogate。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087A0-6A82-4313-9F4D-3238648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6EA6B-3A29-4053-B384-7F51386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3F0C-351B-4C2A-AC74-688CA32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真实目标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B935D-3115-4C64-963D-F7A892F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每个候选归属 x 都调用 P1 CVX，得到真实 xi。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CCBA-694E-4509-8535-1EF50D3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 w="0">
            <a:solidFill>
              <a:srgbClr val="DED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5DB53-9DEF-496C-8347-F7D0C079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准确但不可嵌入 MILP/DP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B474C-AE23-4CB8-A019-223851CD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09C53-AA64-4B52-B18A-28C7C24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A7273-E024-4212-9C99-93CD6661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14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当前做法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BF830-ACE7-4B2E-857E-6379160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预计算 capacity_proxy[s,c,k]，用线性约束 xi ≤ Σ x·proxy。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8F547-E568-46EB-83CC-4B8E55A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624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 w="0">
            <a:solidFill>
              <a:srgbClr val="DED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D7C84-D53C-473D-BDC0-1358A3D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可线性化、可精确求解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DA65D-B2C5-4F24-855A-AEAC6071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42AB1-8D3C-4BB4-B79B-C9F7EAA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ABA75-A160-46AB-9658-1E062931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研究风险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0FEE8-2CEA-450C-BB38-CD43D635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如果 proxy 排序不准，P2 会选错 satellite。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7AFFB-91E8-43C6-ADEA-04ACCC3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 w="0">
            <a:solidFill>
              <a:srgbClr val="DED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8AB0B-11CB-4C29-8633-65479D1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338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需要 calibration /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2775D-9E9F-4CF9-A022-9486881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501F4-1C2C-47F3-9152-E628BD4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F4995-6634-4887-9EC0-A429E18A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BF441-098A-4CFA-9721-77FBCB99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D9B69-6698-4092-B7EE-41B770C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B70523-BEF6-47D4-9B4E-FAA66F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944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 linear surrogate 的好处：P2-L1 是 MILP，P2-L3 是逐 cell DP。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E8EDB-7CE3-4E0E-A41B-BD93E91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86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8A1F5-C090-46D6-A294-8C8CA5D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944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 linear surrogate 的风险：它可能压缩真实 xi 的动态范围，影响 association 排序。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AF668-9C5D-44B6-BB06-9F24BCA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E1154-8EB0-4ADF-A209-935EC24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58129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B9FB6-B0B2-4F28-B309-32C947B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CALIBRATION-marker">
            <a:extLst xmlns:a="http://schemas.openxmlformats.org/drawingml/2006/main">
              <a:ext uri="{FF2B5EF4-FFF2-40B4-BE49-F238E27FC236}">
                <a16:creationId xmlns:a16="http://schemas.microsoft.com/office/drawing/2014/main" id="{42743CA5-DBA1-49FB-8C07-D6579D1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" name="kicker-CALIBRATION-label">
            <a:extLst xmlns:a="http://schemas.openxmlformats.org/drawingml/2006/main">
              <a:ext uri="{FF2B5EF4-FFF2-40B4-BE49-F238E27FC236}">
                <a16:creationId xmlns:a16="http://schemas.microsoft.com/office/drawing/2014/main" id="{63F10D0C-6D62-4C48-88B5-399CBCF4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3E487-C532-4F32-935B-1DB5437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我已经把 proxy calibration 扩大到 medium/stress 和多个负载等级。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A4439-9B0D-4190-9435-A96AAD2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B95EB-C9C0-4431-99BC-219966C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DDE7-2AA7-4634-AE6D-2D0D74A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273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6A4BA-6B38-453F-8AC4-EF384999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P1 CVX oracle solves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61577-5C67-40CC-855C-50F3810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167E6-C31A-4B6E-B36E-22DF952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B41FF-166A-4FF6-B06F-A1AE69C7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098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4140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AF60B-8779-4EE1-A0F7-B1332B04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cell-level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4CDB5-DD90-4A11-9E67-592A54C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574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F8CC3-9F6D-4560-A8F8-262F2DA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57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FCC3F-64D5-484C-8927-D4CEDF46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98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043C7-B8C3-48C0-9F89-A2ABD00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calibration batches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F1AE8-EA03-4E87-A932-699D96B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30792-0078-421E-B2D8-7AEEA1B1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77ABC-4DA2-4413-B822-6D0A4FF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12B"/>
                </a:solidFill>
                <a:latin typeface="Helvetica Neue"/>
                <a:ea typeface="Helvetica Neue"/>
                <a:cs typeface="Helvetica Neue"/>
              </a:rPr>
              <a:t>1 / 10 /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0AE02-62F8-4FF7-AE37-D959253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demand multipliers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522B1-04A7-4931-B6ED-8F9D7DBB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0C2A1-8D46-4911-87AF-18D4A6BE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52110-696F-45B7-8FBE-082D2E1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2D526-4BDB-44FB-A5E2-996FF8C3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385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demand multiplier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C2327-EBB4-4273-9532-5E6CE9E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B9741-DC51-4E5A-A3DC-2FE172F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oracle solves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6B8C3-67DD-4B91-A6B6-C0EA03D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55CBDA-369E-45EA-9D92-026FB49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385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cell samples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07FCF5-F294-45FC-B26B-A94FD18D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5B26E-13B8-4A51-985D-B57B046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385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34E4C-5FC6-4835-8CF5-806E537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023E9-1E7F-47E2-B4B6-2B69991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C397F-3563-455F-A228-F8BBB60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862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682748-1CD9-40A4-846A-750F6ECA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624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E02ABE-AB2D-42BE-8593-E6700355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862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F39AC-556B-4E97-987C-1EB4E7B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624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75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B72DD3-000E-49B7-9E58-931DF147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D854D2-F9CD-47D3-8268-D57AB790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900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76B79F-E449-4C87-8301-62041F2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862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BCBD0-0446-4478-89AE-84D3A2B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624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误差≈0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3F59F7-F9D0-4F86-9AB5-085AE06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298E23-24A2-492B-AF24-6918AFF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653D94-2403-434A-A386-5D2D7F02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00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722833-BBAC-42DF-AE1D-A11B0D05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862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7FB60F-E974-4469-A6FD-5DD3F26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00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E552EE-5AD3-4EAC-BF2A-A60561A8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862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75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0AC16F-2376-4A1C-AE22-16EDB16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8C9322-9F6A-4F50-ADF8-10EF71F8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862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900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85C130-D0BF-42A4-B08E-80E5CE5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007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53374C-CEF6-4D6D-B0EC-6C90338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862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误差最高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55AADA-D168-4AEA-99DB-EAA3D16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1B3EDB-9870-47E8-BA93-3FD88F3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01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medium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9A4FA0-8F48-4410-85DB-6BC5912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339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9B419E-833F-4323-B392-A73D065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01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B0897C-EE1E-4854-A214-057C8A5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339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E9DD3B-3690-4C28-9D17-9F13766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01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75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1F4F32-78C2-448B-82A5-AFCE7875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339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C19AC6-9565-4DEF-AC20-3B43DEF8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900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3338F9-DDC1-4EB5-BA1A-18C1963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28F471-1662-493D-BAB4-97E83D9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极端拥塞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A742E1-E66B-4F1A-A3E5-74DA1D5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CAF44A-AEE1-4D70-A473-436786F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stress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A2C3EB-ECE9-49E2-A1AC-65BC67A7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577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D61740-97DA-4CD0-9F83-98D7666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339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7F9931-F029-470E-BED4-42BD7CC9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0A29B8-DFB6-4A29-AF92-48CFD82F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339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2ACE37-B1A6-49AD-8C70-1C882BEF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441454-1693-40BF-8B01-8F9A5B5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720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B94C06-1D3C-406A-980D-458AEE34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5777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27362D-ACF4-4660-96A5-A1D3AF9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3397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尺度复核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A28A85-D69C-479C-9883-BF0E867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C93D3F-7F79-408B-960C-F5BA624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57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stress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024B39-8E10-4F1A-91DD-C093DFC8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50EA54-6162-46AD-AA38-F222F95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578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E03BFE-93E9-4641-8276-2CA6D250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199EE9-B56D-405F-98B3-70C5775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578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5FBC46-89D2-4005-94DF-1C61E9C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E5AE4E-1447-4190-A157-3A224D5C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720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E9B078-52F8-46AE-A6E8-4C7540E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52B3C7-279A-403C-9C62-290B5065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578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极端拥塞复核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E2CFD2-1BB8-45FE-8AA1-431F451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doc/reports/p2_proxy_calibration_expanded_zh.md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136772-9410-4028-8E2E-CD18413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34506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7D9C9-F456-491B-8CCF-482C45F0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KEY FINDING-marker">
            <a:extLst xmlns:a="http://schemas.openxmlformats.org/drawingml/2006/main">
              <a:ext uri="{FF2B5EF4-FFF2-40B4-BE49-F238E27FC236}">
                <a16:creationId xmlns:a16="http://schemas.microsoft.com/office/drawing/2014/main" id="{DDB00BFB-A87B-47CC-8E83-3BCD2F5A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3" name="kicker-KEY FINDING-label">
            <a:extLst xmlns:a="http://schemas.openxmlformats.org/drawingml/2006/main">
              <a:ext uri="{FF2B5EF4-FFF2-40B4-BE49-F238E27FC236}">
                <a16:creationId xmlns:a16="http://schemas.microsoft.com/office/drawing/2014/main" id="{DAC14A4F-C5DE-4C74-8047-B2724B0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C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84C3A"/>
                </a:solidFill>
                <a:latin typeface="Helvetica Neue"/>
                <a:ea typeface="Helvetica Neue"/>
                <a:cs typeface="Helvetica Neue"/>
              </a:rPr>
              <a:t>KEY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99275-C9A4-4831-89C7-792357CE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误差最大不是极端拥塞，而是“刚开始资源竞争”的中度过载区间。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0eb2bb5d64f3a"/>
          <a:stretch xmlns:a="http://schemas.openxmlformats.org/drawingml/2006/main"/>
        </p:blipFill>
        <p:spPr>
          <a:xfrm xmlns:a="http://schemas.openxmlformats.org/drawingml/2006/main">
            <a:off x="514350" y="2251710"/>
            <a:ext cx="6334125" cy="30403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600A-AB21-4BD5-B21A-06F692B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P95 absolute error by regime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760C8-DE4A-439C-9C92-F69D6B97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medium ×1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4E2A2-92EE-4833-8023-AE459B01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4"/>
          </a:solidFill>
          <a:ln xmlns:a="http://schemas.openxmlformats.org/drawingml/2006/main" w="0">
            <a:solidFill>
              <a:srgbClr val="E4D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88924-F221-47DD-8A9E-BFF0F7C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C98F-18B4-49D6-90AC-8A423569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4955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≈0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333EA-E10C-4D83-A75E-3FEBE14F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medium ×10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212AF-2E4A-495D-8B71-27973FC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765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4"/>
          </a:solidFill>
          <a:ln xmlns:a="http://schemas.openxmlformats.org/drawingml/2006/main" w="0">
            <a:solidFill>
              <a:srgbClr val="E4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E467D-0ADA-424B-BA06-125D2BF8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76575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99646-8D7F-41B8-B7F5-1EF2F462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194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0.640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AA46C-2FBC-47EC-B548-758D6748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medium ×100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95C4B-BB67-4F96-A7D3-D061560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4"/>
          </a:solidFill>
          <a:ln xmlns:a="http://schemas.openxmlformats.org/drawingml/2006/main" w="0">
            <a:solidFill>
              <a:srgbClr val="E4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FB607-799B-4E39-9FB5-7C407E5B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3924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ABFD5-5C3D-4830-B2D6-C14655E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43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0.103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CB603-F130-40BC-AD0A-6CD4CD79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stress ×10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6AAD3-21AE-4782-8A05-C497EBF9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4"/>
          </a:solidFill>
          <a:ln xmlns:a="http://schemas.openxmlformats.org/drawingml/2006/main" w="0">
            <a:solidFill>
              <a:srgbClr val="E4D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ACA56-B229-435D-8E23-B65E12C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24612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86569-9330-489F-A393-ED3CBAD3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067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0.646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8CD77-8422-4536-863C-E1F4757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stress ×100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333EE-ED10-4C52-9A41-2CCFCFD6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4"/>
          </a:solidFill>
          <a:ln xmlns:a="http://schemas.openxmlformats.org/drawingml/2006/main" w="0">
            <a:solidFill>
              <a:srgbClr val="E4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09921-CE3E-43BE-A246-5028158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3314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3CAAD-881D-4DE4-8B13-CFA3440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91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0.087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1E283-A5C0-434C-9C27-4C59ABB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81625"/>
            <a:ext cx="388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E1"/>
          </a:solidFill>
          <a:ln xmlns:a="http://schemas.openxmlformats.org/drawingml/2006/main" w="9525">
            <a:solidFill>
              <a:srgbClr val="EAC6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A9B00-C592-4CC5-9B77-DB5FF48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24500"/>
            <a:ext cx="3476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结论：当前 proxy 在中度过载时压缩动态范围：低真实 xi 容易被高估，高真实 xi 容易被低估。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75C96-9817-4BEF-886A-61228ED2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results/p2_proxy_calibration/p2_proxy_calibration_medium_n75_20260524T130803Z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DFAA8-B8CB-4DD7-81DF-732F90E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84081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6245E-19D6-456E-8998-9C3BB6E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ALGORITHM DECISION-marker">
            <a:extLst xmlns:a="http://schemas.openxmlformats.org/drawingml/2006/main">
              <a:ext uri="{FF2B5EF4-FFF2-40B4-BE49-F238E27FC236}">
                <a16:creationId xmlns:a16="http://schemas.microsoft.com/office/drawing/2014/main" id="{66F7B65C-541E-4508-86BE-831B246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kicker-ALGORITHM DECISION-label">
            <a:extLst xmlns:a="http://schemas.openxmlformats.org/drawingml/2006/main">
              <a:ext uri="{FF2B5EF4-FFF2-40B4-BE49-F238E27FC236}">
                <a16:creationId xmlns:a16="http://schemas.microsoft.com/office/drawing/2014/main" id="{9EC1931F-0BCA-47AD-B9FB-5878E00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ALGORITHM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3869B-D9C2-41A4-AA06-BB407266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当前最该优化的是 surrogate 质量，而不是重写 P2-L3。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D3B12-E1C8-4BAF-8866-DCDA60B8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358FB-7A7B-40DB-B50E-336809B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916F-7488-4030-8F9A-6014C1B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47875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27EF3-79CB-4B98-ADFC-4EB3055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57BF4-67E0-41ED-B303-1B63FA7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4D483-62CA-420E-9302-CFA1BD35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B90DC-B2A2-4162-9CC9-15AB258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4787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E7614-1CF2-4660-82E9-5940B187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A8939-AA25-4785-B6B3-B2F773EE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486CA-AA61-493F-B8BB-C991AF6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P1 CVX oracle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52A42-6A23-4CD5-824D-A899390B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982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588B5-8189-4C8B-AF81-308EEBF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81275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已可作为 ground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AB178-7501-492A-8F99-473429B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AAC41-DB26-414C-90D9-6713B94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812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继续做数值稳定性复核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97A5A-E965-445F-94A7-5B98E3E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098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476AD-2161-49B0-8E09-6D18DF0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622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CDE60-7FB7-43B6-9F24-3057506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098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0AA79-778C-4168-B04E-52BB659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776C0-EB93-4296-81E9-4BD48DF1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P1 dual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447F1-FF9B-48C5-AD3B-2A14DBB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4322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5BE3D-11B8-4FF6-9856-93E141BE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速度快、gap 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6160A-B6C2-438C-AEB6-86A83BD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37E2A-7AE5-429B-87B0-241E48F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用于 screening / ablation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1EE98-0FFF-4BDC-AE2D-7D72013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432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BE1A8-20AB-43B4-A283-D81C815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956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B7766-FD77-4D52-99A6-9912DD9E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432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640C2E-F1C0-4AF1-A927-0E8F927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F8A8F-F67E-4A8D-A1D5-6B9F54D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P2 MILP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F8432-A8D6-49E3-8123-315A27ED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FCC96-B75F-4635-AE64-3B180FCB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48075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 surrogate 的审计基准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1C0FE-9D53-4345-8534-2FCAE82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51E34-0A60-43BD-836F-BB854D3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保留作小规模验证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8858DD-46F0-46C5-BA7E-FB6739A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766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B4D24A-D51F-4408-8CDF-A04DEBE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290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98EC2-8CB1-4BB4-B546-B5D494A9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766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FB4275-5426-496A-A57D-B8175D96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9B129F-EE13-4C1B-9AFC-84FEEB2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P2 DP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BD7CA-7FA4-45FC-89AB-EFF30BF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002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606539-34FC-4140-871D-258C5FE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81475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对当前 surrogate 精确且更快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AA1662-851C-493E-9159-96FCE09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E425A-91AF-46F6-9035-D51E25A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作为 label generator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EBDED2-B778-4767-A5F4-54ECB9F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00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5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704E44-6097-46A4-BD88-C361240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624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90F617-618F-4408-872C-5BCF503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00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CD4D21-4C91-4F54-9AD2-A691FA88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9CE48C-05B1-461A-98D0-8E01C8FF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P2 proxy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65649B-58A5-495E-8964-19EE5F1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4342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CC18E8-087B-48DB-A07C-033007E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14875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中度过载误差最大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89ED42-8DAF-40C8-B2DA-D73B2C2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434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E029C8-36D9-4D41-9838-4BC406D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下一步重点优化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F66B38-E151-46B7-A34F-B73E1DE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43425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ED8C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E4EDEF-28A4-4CC9-8E7C-D632017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958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DAAB52-1565-48F1-866B-8773105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434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HIGH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11ACCE-41C4-4756-A519-5D94A91E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CADAF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28E49D-5EE0-4D3E-B8B3-5162402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组会希望得到的反馈：下一步 proxy correction 应优先做线性校准、load-aware 修正，还是先补 rank-based evaluation？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24D40B-0D2D-4D28-984C-AA0DA249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FA61FD-390E-4A06-BD98-1197570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85727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E44D9-C8DE-4768-B147-2789AAF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kicker-NEXT MILESTONE-marker">
            <a:extLst xmlns:a="http://schemas.openxmlformats.org/drawingml/2006/main">
              <a:ext uri="{FF2B5EF4-FFF2-40B4-BE49-F238E27FC236}">
                <a16:creationId xmlns:a16="http://schemas.microsoft.com/office/drawing/2014/main" id="{087626B7-23A4-4ABD-9DBB-3A2317A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3" name="kicker-NEXT MILESTONE-label">
            <a:extLst xmlns:a="http://schemas.openxmlformats.org/drawingml/2006/main">
              <a:ext uri="{FF2B5EF4-FFF2-40B4-BE49-F238E27FC236}">
                <a16:creationId xmlns:a16="http://schemas.microsoft.com/office/drawing/2014/main" id="{445C085B-83B9-44C7-AB71-1B475713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9902F"/>
                </a:solidFill>
                <a:latin typeface="Helvetica Neue"/>
                <a:ea typeface="Helvetica Neue"/>
                <a:cs typeface="Helvetica Neue"/>
              </a:rPr>
              <a:t>NEXT MILESTONE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E2953-AD37-44DD-9392-457799C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下一阶段目标：把 proxy 从“能跑”推进到“可信可解释”。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1EA1-1FFB-46E3-ABC5-45DA083A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66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344A-6322-4BD6-861A-9218F805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2E21-E0E4-468F-99A1-6912701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6FED"/>
                </a:solidFill>
                <a:latin typeface="PingFang SC"/>
                <a:ea typeface="PingFang SC"/>
                <a:cs typeface="PingFang SC"/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7026-774F-4C4D-917F-F5C7E1E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Rank-based 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660C7-5048-400C-B06B-A0849F39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同一 cell-slot 下比较不同 satellite 排序：top-1 agreement / regret / Kendall tau。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3917E-74AD-46BC-8460-B8764D3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9C79A-9AF4-48A6-A95E-9FF59F5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5DDCA-9262-471E-B35F-74D9690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266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C6154-9326-48B5-A82B-A9B5585E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397D3-1325-4790-B742-194226E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Step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5F288-4F2E-46C5-BAA1-E905146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Calibrated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0ADE7-D627-4CA7-AD84-B8CD1D52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先做分段 affine correction，验证是否能缓解动态范围压缩。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66EB7-C778-433E-A92E-D7219E83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EE8BE-C796-450C-9220-6692C86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BD15D-8885-4612-8950-FABDEE9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266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F58F4-CB37-48D7-B237-95296CD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6D79C-5D9D-429E-8019-2EFF92AC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02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902F"/>
                </a:solidFill>
                <a:latin typeface="PingFang SC"/>
                <a:ea typeface="PingFang SC"/>
                <a:cs typeface="PingFang SC"/>
              </a:rPr>
              <a:t>Step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BAA92-D6BA-48CF-A8E3-002B6E7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Load-aware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72B10-EB18-4CF6-AD75-36705D3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把当前 assignment 下同星 demand load 纳入 proxy，减少过渡区误差。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1BE0D-E3F3-4B19-B974-1518D518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FB1D0-6858-43EB-A0BC-21E44174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CF"/>
          </a:solidFill>
          <a:ln xmlns:a="http://schemas.openxmlformats.org/drawingml/2006/main" w="0">
            <a:solidFill>
              <a:srgbClr val="BFC7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BF670-DAAD-420B-AC5B-5E3D54B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266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74B47-EFA1-4359-A92D-C8A0E2E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3A"/>
          </a:solidFill>
          <a:ln xmlns:a="http://schemas.openxmlformats.org/drawingml/2006/main" w="0">
            <a:solidFill>
              <a:srgbClr val="C84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EBB6E-084D-4A08-967D-27C34966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4C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4C3A"/>
                </a:solidFill>
                <a:latin typeface="PingFang SC"/>
                <a:ea typeface="PingFang SC"/>
                <a:cs typeface="PingFang SC"/>
              </a:rPr>
              <a:t>Step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DF81E-7010-42DA-9198-F98B52C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P3 label 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2D0E5-02B5-4348-8709-7624C7EA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1847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975"/>
                </a:solidFill>
                <a:latin typeface="PingFang SC"/>
                <a:ea typeface="PingFang SC"/>
                <a:cs typeface="PingFang SC"/>
              </a:rPr>
              <a:t>用 DP 生成候选标签，同时保留 P1/P2 audit 结果用于评估。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159BF-AD96-4473-AFF2-18F42568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当前汇报的核心 takeaway：P1/P2 原型已经跑通；论文质量的关键风险已经收敛到 P2 proxy fidelity。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E2B18E-FFCB-41A8-83EA-FDE471A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APEX local artifacts · 2026-05-25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8AB789-C114-434F-91D4-E5AE9EC8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9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3669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2026-05-24T16:47:06.2590000Z</dcterms:created>
  <dcterms:modified xsi:type="dcterms:W3CDTF">2026-05-24T16:47:06.2590000Z</dcterms:modified>
</coreProperties>
</file>